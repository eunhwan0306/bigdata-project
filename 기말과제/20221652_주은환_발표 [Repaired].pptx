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napToObjects="1">
      <p:cViewPr varScale="1">
        <p:scale>
          <a:sx n="110" d="100"/>
          <a:sy n="110" d="100"/>
        </p:scale>
        <p:origin x="630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38B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</a:rPr>
              <a:t>고속도로 돌발상황</a:t>
            </a:r>
          </a:p>
          <a:p>
            <a:pPr algn="ctr">
              <a:lnSpc>
                <a:spcPct val="130000"/>
              </a:lnSpc>
            </a:pPr>
            <a:r>
              <a:rPr sz="4000" b="1">
                <a:solidFill>
                  <a:srgbClr val="38BFF8"/>
                </a:solidFill>
                <a:latin typeface="맑은 고딕"/>
                <a:ea typeface="맑은 고딕"/>
              </a:rPr>
              <a:t>연쇄 정체 위험도 예측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BD5E1"/>
                </a:solidFill>
                <a:latin typeface="맑은 고딕"/>
                <a:ea typeface="맑은 고딕"/>
              </a:rPr>
              <a:t>실시간 돌발상황·기상·사고 이력 데이터로 고속도로 구간별 정체 위험을 사전에 예측하는 Streamlit 웹앱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4160520"/>
            <a:ext cx="5760720" cy="25400"/>
          </a:xfrm>
          <a:prstGeom prst="rect">
            <a:avLst/>
          </a:prstGeom>
          <a:solidFill>
            <a:srgbClr val="38B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</a:rPr>
              <a:t>20221652  주은환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0" y="5166360"/>
            <a:ext cx="2103120" cy="3840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468880" y="516636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8BFF8"/>
                </a:solidFill>
                <a:latin typeface="맑은 고딕"/>
                <a:ea typeface="맑은 고딕"/>
              </a:rPr>
              <a:t>ML  Random Forest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92040" y="5166360"/>
            <a:ext cx="2103120" cy="3840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92040" y="516636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4D399"/>
                </a:solidFill>
                <a:latin typeface="맑은 고딕"/>
                <a:ea typeface="맑은 고딕"/>
              </a:rPr>
              <a:t>Streamlit  Web App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5166360"/>
            <a:ext cx="2103120" cy="3840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0" y="516636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ACC15"/>
                </a:solidFill>
                <a:latin typeface="맑은 고딕"/>
                <a:ea typeface="맑은 고딕"/>
              </a:rPr>
              <a:t>공공 Open API  3종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82296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CBD5E1"/>
                </a:solidFill>
                <a:latin typeface="맑은 고딕"/>
                <a:ea typeface="맑은 고딕"/>
              </a:rPr>
              <a:t>빅데이터분</a:t>
            </a:r>
            <a:r>
              <a:rPr lang="ko-KR" altLang="en-US" sz="1000" dirty="0">
                <a:solidFill>
                  <a:srgbClr val="CBD5E1"/>
                </a:solidFill>
                <a:latin typeface="맑은 고딕"/>
                <a:ea typeface="맑은 고딕"/>
              </a:rPr>
              <a:t>석</a:t>
            </a:r>
            <a:r>
              <a:rPr sz="1000" b="0" i="0" dirty="0" err="1">
                <a:solidFill>
                  <a:srgbClr val="CBD5E1"/>
                </a:solidFill>
                <a:latin typeface="맑은 고딕"/>
                <a:ea typeface="맑은 고딕"/>
              </a:rPr>
              <a:t>프로그래밍</a:t>
            </a:r>
            <a:r>
              <a:rPr sz="1000" b="0" i="0" dirty="0">
                <a:solidFill>
                  <a:srgbClr val="CBD5E1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CBD5E1"/>
                </a:solidFill>
                <a:latin typeface="맑은 고딕"/>
                <a:ea typeface="맑은 고딕"/>
              </a:rPr>
              <a:t>기말과제</a:t>
            </a:r>
            <a:r>
              <a:rPr sz="1000" b="0" i="0" dirty="0">
                <a:solidFill>
                  <a:srgbClr val="CBD5E1"/>
                </a:solidFill>
                <a:latin typeface="맑은 고딕"/>
                <a:ea typeface="맑은 고딕"/>
              </a:rPr>
              <a:t>  |  20221652 </a:t>
            </a:r>
            <a:r>
              <a:rPr sz="1000" b="0" i="0" dirty="0" err="1">
                <a:solidFill>
                  <a:srgbClr val="CBD5E1"/>
                </a:solidFill>
                <a:latin typeface="맑은 고딕"/>
                <a:ea typeface="맑은 고딕"/>
              </a:rPr>
              <a:t>주은환</a:t>
            </a:r>
            <a:endParaRPr sz="1000" b="0" i="0" dirty="0">
              <a:solidFill>
                <a:srgbClr val="CBD5E1"/>
              </a:solidFill>
              <a:latin typeface="맑은 고딕"/>
              <a:ea typeface="맑은 고딕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548872" y="6446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BD5E1"/>
                </a:solidFill>
                <a:latin typeface="맑은 고딕"/>
                <a:ea typeface="맑은 고딕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38100"/>
          </a:xfrm>
          <a:prstGeom prst="rect">
            <a:avLst/>
          </a:prstGeom>
          <a:solidFill>
            <a:srgbClr val="38B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맑은 고딕"/>
                <a:ea typeface="맑은 고딕"/>
              </a:rPr>
              <a:t>문제 정의 &amp; 데이터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5303520" cy="2103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55448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rgbClr val="38BFF8"/>
                </a:solidFill>
                <a:latin typeface="맑은 고딕"/>
                <a:ea typeface="맑은 고딕"/>
              </a:rPr>
              <a:t>문제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FFFFFF"/>
                </a:solidFill>
                <a:latin typeface="맑은 고딕"/>
                <a:ea typeface="맑은 고딕"/>
              </a:rPr>
              <a:t>고속도로 돌발상황·기상·이력을 결합하여</a:t>
            </a:r>
          </a:p>
          <a:p>
            <a:pPr algn="l">
              <a:lnSpc>
                <a:spcPct val="14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특정 노선·시간대의 연쇄 정체 위험도를 사전에 예측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417320"/>
            <a:ext cx="5669280" cy="2103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55080" y="155448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rgbClr val="38BFF8"/>
                </a:solidFill>
                <a:latin typeface="맑은 고딕"/>
                <a:ea typeface="맑은 고딕"/>
              </a:rPr>
              <a:t>예측 타깃 (Target)</a:t>
            </a:r>
          </a:p>
          <a:p>
            <a:pPr algn="l">
              <a:lnSpc>
                <a:spcPct val="140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노선별 정체 위험 등급  3단계 분류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CBD5E1"/>
                </a:solidFill>
                <a:latin typeface="맑은 고딕"/>
                <a:ea typeface="맑은 고딕"/>
              </a:rPr>
              <a:t>  저위험(0)  /  중위험(1)  /  고위험(2)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CBD5E1"/>
                </a:solidFill>
                <a:latin typeface="맑은 고딕"/>
                <a:ea typeface="맑은 고딕"/>
              </a:rPr>
              <a:t>혼합 방식: 이력 위험도 60% + 실시간 점수 40%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794760"/>
            <a:ext cx="3657600" cy="228600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" y="3931920"/>
            <a:ext cx="33375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38BFF8"/>
                </a:solidFill>
                <a:latin typeface="맑은 고딕"/>
                <a:ea typeface="맑은 고딕"/>
              </a:rPr>
              <a:t>국토교통부
돌발상황 API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CBD5E1"/>
                </a:solidFill>
                <a:latin typeface="맑은 고딕"/>
                <a:ea typeface="맑은 고딕"/>
              </a:rPr>
              <a:t>실시간 JSON / 시뮬레이션 800건
노선명  사고유형  통제차로수  위경도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3794760"/>
            <a:ext cx="3657600" cy="2286000"/>
          </a:xfrm>
          <a:prstGeom prst="rect">
            <a:avLst/>
          </a:prstGeom>
          <a:solidFill>
            <a:srgbClr val="1E293B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62272" y="3931920"/>
            <a:ext cx="33375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34D399"/>
                </a:solidFill>
                <a:latin typeface="맑은 고딕"/>
                <a:ea typeface="맑은 고딕"/>
              </a:rPr>
              <a:t>한국도로공사
교통사고 이력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CBD5E1"/>
                </a:solidFill>
                <a:latin typeface="맑은 고딕"/>
                <a:ea typeface="맑은 고딕"/>
              </a:rPr>
              <a:t>CSV / 2019-2024  약 60행
노선별 사고건수  평균지연_분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3794760"/>
            <a:ext cx="3657600" cy="2286000"/>
          </a:xfrm>
          <a:prstGeom prst="rect">
            <a:avLst/>
          </a:prstGeom>
          <a:solidFill>
            <a:srgbClr val="1E293B"/>
          </a:solidFill>
          <a:ln w="1524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94192" y="3931920"/>
            <a:ext cx="33375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FACC15"/>
                </a:solidFill>
                <a:latin typeface="맑은 고딕"/>
                <a:ea typeface="맑은 고딕"/>
              </a:rPr>
              <a:t>기상청 ASOS
시간별 자료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CBD5E1"/>
                </a:solidFill>
                <a:latin typeface="맑은 고딕"/>
                <a:ea typeface="맑은 고딕"/>
              </a:rPr>
              <a:t>CSV / 시뮬레이션 500행
기온  강수량  적설량  시정  풍속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82296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CBD5E1"/>
                </a:solidFill>
                <a:latin typeface="맑은 고딕"/>
                <a:ea typeface="맑은 고딕"/>
              </a:rPr>
              <a:t>빅데이터분</a:t>
            </a:r>
            <a:r>
              <a:rPr lang="ko-KR" altLang="en-US" sz="1000" b="0" i="0" dirty="0">
                <a:solidFill>
                  <a:srgbClr val="CBD5E1"/>
                </a:solidFill>
                <a:latin typeface="맑은 고딕"/>
                <a:ea typeface="맑은 고딕"/>
              </a:rPr>
              <a:t>석</a:t>
            </a:r>
            <a:r>
              <a:rPr sz="1000" b="0" i="0" dirty="0" err="1">
                <a:solidFill>
                  <a:srgbClr val="CBD5E1"/>
                </a:solidFill>
                <a:latin typeface="맑은 고딕"/>
                <a:ea typeface="맑은 고딕"/>
              </a:rPr>
              <a:t>프로그래밍</a:t>
            </a:r>
            <a:r>
              <a:rPr sz="1000" b="0" i="0" dirty="0">
                <a:solidFill>
                  <a:srgbClr val="CBD5E1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CBD5E1"/>
                </a:solidFill>
                <a:latin typeface="맑은 고딕"/>
                <a:ea typeface="맑은 고딕"/>
              </a:rPr>
              <a:t>기말과제</a:t>
            </a:r>
            <a:r>
              <a:rPr sz="1000" b="0" i="0" dirty="0">
                <a:solidFill>
                  <a:srgbClr val="CBD5E1"/>
                </a:solidFill>
                <a:latin typeface="맑은 고딕"/>
                <a:ea typeface="맑은 고딕"/>
              </a:rPr>
              <a:t>  |  20221652 </a:t>
            </a:r>
            <a:r>
              <a:rPr sz="1000" b="0" i="0" dirty="0" err="1">
                <a:solidFill>
                  <a:srgbClr val="CBD5E1"/>
                </a:solidFill>
                <a:latin typeface="맑은 고딕"/>
                <a:ea typeface="맑은 고딕"/>
              </a:rPr>
              <a:t>주은환</a:t>
            </a:r>
            <a:endParaRPr sz="1000" b="0" i="0" dirty="0">
              <a:solidFill>
                <a:srgbClr val="CBD5E1"/>
              </a:solidFill>
              <a:latin typeface="맑은 고딕"/>
              <a:ea typeface="맑은 고딕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548872" y="6446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BD5E1"/>
                </a:solidFill>
                <a:latin typeface="맑은 고딕"/>
                <a:ea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맑은 고딕"/>
                <a:ea typeface="맑은 고딕"/>
              </a:rPr>
              <a:t>EDA  핵심 발견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87171"/>
                </a:solidFill>
                <a:latin typeface="맑은 고딕"/>
                <a:ea typeface="맑은 고딕"/>
              </a:rPr>
              <a:t>[ 스크린샷 삽입 ]
시간대별 돌발상황 발생 빈도
(위험 등급 누적 막대)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754880"/>
            <a:ext cx="5577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34D399"/>
                </a:solidFill>
                <a:latin typeface="맑은 고딕"/>
                <a:ea typeface="맑은 고딕"/>
              </a:rPr>
              <a:t>발견 1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출퇴근 피크(7-9시, 17-19시)에 전체 35% 집중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CBD5E1"/>
                </a:solidFill>
                <a:latin typeface="맑은 고딕"/>
                <a:ea typeface="맑은 고딕"/>
              </a:rPr>
              <a:t>→ 피크타임 여부가 핵심 피처로 활용됨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651760"/>
            <a:ext cx="5349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87171"/>
                </a:solidFill>
                <a:latin typeface="맑은 고딕"/>
                <a:ea typeface="맑은 고딕"/>
              </a:rPr>
              <a:t>[ 스크린샷 삽입 ]
기상 상태별 위험도 점수 분포
(박스플롯)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4754880"/>
            <a:ext cx="5532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FACC15"/>
                </a:solidFill>
                <a:latin typeface="맑은 고딕"/>
                <a:ea typeface="맑은 고딕"/>
              </a:rPr>
              <a:t>발견 2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눈·안개 시 위험도 중앙값이 맑음 대비 2배+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CBD5E1"/>
                </a:solidFill>
                <a:latin typeface="맑은 고딕"/>
                <a:ea typeface="맑은 고딕"/>
              </a:rPr>
              <a:t>→ 기상가중치(눈 2.0×, 안개 1.8×) 설계 근거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82296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CBD5E1"/>
                </a:solidFill>
                <a:latin typeface="맑은 고딕"/>
                <a:ea typeface="맑은 고딕"/>
              </a:rPr>
              <a:t>빅데이터분</a:t>
            </a:r>
            <a:r>
              <a:rPr lang="ko-KR" altLang="en-US" sz="1000" b="0" i="0" dirty="0">
                <a:solidFill>
                  <a:srgbClr val="CBD5E1"/>
                </a:solidFill>
                <a:latin typeface="맑은 고딕"/>
                <a:ea typeface="맑은 고딕"/>
              </a:rPr>
              <a:t>석</a:t>
            </a:r>
            <a:r>
              <a:rPr sz="1000" b="0" i="0" dirty="0" err="1">
                <a:solidFill>
                  <a:srgbClr val="CBD5E1"/>
                </a:solidFill>
                <a:latin typeface="맑은 고딕"/>
                <a:ea typeface="맑은 고딕"/>
              </a:rPr>
              <a:t>프로그래밍</a:t>
            </a:r>
            <a:r>
              <a:rPr sz="1000" b="0" i="0" dirty="0">
                <a:solidFill>
                  <a:srgbClr val="CBD5E1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CBD5E1"/>
                </a:solidFill>
                <a:latin typeface="맑은 고딕"/>
                <a:ea typeface="맑은 고딕"/>
              </a:rPr>
              <a:t>기말과제</a:t>
            </a:r>
            <a:r>
              <a:rPr sz="1000" b="0" i="0" dirty="0">
                <a:solidFill>
                  <a:srgbClr val="CBD5E1"/>
                </a:solidFill>
                <a:latin typeface="맑은 고딕"/>
                <a:ea typeface="맑은 고딕"/>
              </a:rPr>
              <a:t>  |  20221652 </a:t>
            </a:r>
            <a:r>
              <a:rPr sz="1000" b="0" i="0" dirty="0" err="1">
                <a:solidFill>
                  <a:srgbClr val="CBD5E1"/>
                </a:solidFill>
                <a:latin typeface="맑은 고딕"/>
                <a:ea typeface="맑은 고딕"/>
              </a:rPr>
              <a:t>주은환</a:t>
            </a:r>
            <a:endParaRPr sz="1000" b="0" i="0" dirty="0">
              <a:solidFill>
                <a:srgbClr val="CBD5E1"/>
              </a:solidFill>
              <a:latin typeface="맑은 고딕"/>
              <a:ea typeface="맑은 고딕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548872" y="6446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BD5E1"/>
                </a:solidFill>
                <a:latin typeface="맑은 고딕"/>
                <a:ea typeface="맑은 고딕"/>
              </a:rPr>
              <a:t>3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4C66AE12-01F9-F1C2-7FDA-7440C9036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345" y="1508760"/>
            <a:ext cx="5872275" cy="3154679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3AF9555A-D36C-C5C0-A695-528E02C0F3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6555" y="1508760"/>
            <a:ext cx="5619206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맑은 고딕"/>
                <a:ea typeface="맑은 고딕"/>
              </a:rPr>
              <a:t>라이브 데모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3657600" cy="475488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554480"/>
            <a:ext cx="3291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38BFF8"/>
                </a:solidFill>
                <a:latin typeface="맑은 고딕"/>
                <a:ea typeface="맑은 고딕"/>
              </a:rPr>
              <a:t>데모 입력값  (미리 정해두기)</a:t>
            </a:r>
          </a:p>
          <a:p>
            <a:pPr algn="l">
              <a:lnSpc>
                <a:spcPct val="150000"/>
              </a:lnSpc>
            </a:pPr>
            <a:endParaRPr sz="1300" b="1">
              <a:solidFill>
                <a:srgbClr val="38BFF8"/>
              </a:solidFill>
              <a:latin typeface="맑은 고딕"/>
              <a:ea typeface="맑은 고딕"/>
            </a:endParaRP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노선:  경부고속도로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CBD5E1"/>
                </a:solidFill>
                <a:latin typeface="맑은 고딕"/>
                <a:ea typeface="맑은 고딕"/>
              </a:rPr>
              <a:t>방향:  상행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시각:  오전 8시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CBD5E1"/>
                </a:solidFill>
                <a:latin typeface="맑은 고딕"/>
                <a:ea typeface="맑은 고딕"/>
              </a:rPr>
              <a:t>요일:  월요일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87171"/>
                </a:solidFill>
                <a:latin typeface="맑은 고딕"/>
                <a:ea typeface="맑은 고딕"/>
              </a:rPr>
              <a:t>기상:  비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F87171"/>
                </a:solidFill>
                <a:latin typeface="맑은 고딕"/>
                <a:ea typeface="맑은 고딕"/>
              </a:rPr>
              <a:t>통제차로수:  2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CBD5E1"/>
                </a:solidFill>
                <a:latin typeface="맑은 고딕"/>
                <a:ea typeface="맑은 고딕"/>
              </a:rPr>
              <a:t>돌발유형:  교통사고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3429000"/>
            <a:ext cx="731519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87171"/>
                </a:solidFill>
                <a:latin typeface="맑은 고딕"/>
                <a:ea typeface="맑은 고딕"/>
              </a:rPr>
              <a:t>[ 스크린샷 삽입 ]
앱 실행 화면
입력 폼 + 위험도 결과 배지 + 게이지 차트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6172200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dirty="0" err="1">
                <a:solidFill>
                  <a:srgbClr val="FACC15"/>
                </a:solidFill>
                <a:latin typeface="맑은 고딕"/>
                <a:ea typeface="맑은 고딕"/>
              </a:rPr>
              <a:t>예상</a:t>
            </a:r>
            <a:r>
              <a:rPr sz="1200" b="1" dirty="0">
                <a:solidFill>
                  <a:srgbClr val="FACC15"/>
                </a:solidFill>
                <a:latin typeface="맑은 고딕"/>
                <a:ea typeface="맑은 고딕"/>
              </a:rPr>
              <a:t> </a:t>
            </a:r>
            <a:r>
              <a:rPr sz="1200" b="1" dirty="0" err="1">
                <a:solidFill>
                  <a:srgbClr val="FACC15"/>
                </a:solidFill>
                <a:latin typeface="맑은 고딕"/>
                <a:ea typeface="맑은 고딕"/>
              </a:rPr>
              <a:t>결과</a:t>
            </a:r>
            <a:r>
              <a:rPr sz="1200" b="1" dirty="0">
                <a:solidFill>
                  <a:srgbClr val="FACC15"/>
                </a:solidFill>
                <a:latin typeface="맑은 고딕"/>
                <a:ea typeface="맑은 고딕"/>
              </a:rPr>
              <a:t>:</a:t>
            </a:r>
          </a:p>
          <a:p>
            <a:pPr algn="l">
              <a:lnSpc>
                <a:spcPct val="130000"/>
              </a:lnSpc>
            </a:pPr>
            <a:r>
              <a:rPr sz="1300" b="0" dirty="0" err="1">
                <a:solidFill>
                  <a:srgbClr val="CBD5E1"/>
                </a:solidFill>
                <a:latin typeface="맑은 고딕"/>
                <a:ea typeface="맑은 고딕"/>
              </a:rPr>
              <a:t>경부고속도로</a:t>
            </a:r>
            <a:r>
              <a:rPr sz="1300" b="0" dirty="0">
                <a:solidFill>
                  <a:srgbClr val="CBD5E1"/>
                </a:solidFill>
                <a:latin typeface="맑은 고딕"/>
                <a:ea typeface="맑은 고딕"/>
              </a:rPr>
              <a:t> + </a:t>
            </a:r>
            <a:r>
              <a:rPr sz="1300" b="0" dirty="0" err="1">
                <a:solidFill>
                  <a:srgbClr val="CBD5E1"/>
                </a:solidFill>
                <a:latin typeface="맑은 고딕"/>
                <a:ea typeface="맑은 고딕"/>
              </a:rPr>
              <a:t>월요일</a:t>
            </a:r>
            <a:r>
              <a:rPr sz="1300" b="0" dirty="0">
                <a:solidFill>
                  <a:srgbClr val="CBD5E1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CBD5E1"/>
                </a:solidFill>
                <a:latin typeface="맑은 고딕"/>
                <a:ea typeface="맑은 고딕"/>
              </a:rPr>
              <a:t>오전</a:t>
            </a:r>
            <a:r>
              <a:rPr sz="1300" b="0" dirty="0">
                <a:solidFill>
                  <a:srgbClr val="CBD5E1"/>
                </a:solidFill>
                <a:latin typeface="맑은 고딕"/>
                <a:ea typeface="맑은 고딕"/>
              </a:rPr>
              <a:t> 8시 + 비 + 2차로 </a:t>
            </a:r>
            <a:r>
              <a:rPr sz="1300" b="0" dirty="0" err="1">
                <a:solidFill>
                  <a:srgbClr val="CBD5E1"/>
                </a:solidFill>
                <a:latin typeface="맑은 고딕"/>
                <a:ea typeface="맑은 고딕"/>
              </a:rPr>
              <a:t>통제</a:t>
            </a:r>
            <a:r>
              <a:rPr sz="1300" b="0" dirty="0">
                <a:solidFill>
                  <a:srgbClr val="CBD5E1"/>
                </a:solidFill>
                <a:latin typeface="맑은 고딕"/>
                <a:ea typeface="맑은 고딕"/>
              </a:rPr>
              <a:t>  →  </a:t>
            </a:r>
            <a:r>
              <a:rPr sz="1300" b="0" dirty="0" err="1">
                <a:solidFill>
                  <a:srgbClr val="CBD5E1"/>
                </a:solidFill>
                <a:latin typeface="맑은 고딕"/>
                <a:ea typeface="맑은 고딕"/>
              </a:rPr>
              <a:t>고위험</a:t>
            </a:r>
            <a:r>
              <a:rPr sz="1300" b="0" dirty="0">
                <a:solidFill>
                  <a:srgbClr val="CBD5E1"/>
                </a:solidFill>
                <a:latin typeface="맑은 고딕"/>
                <a:ea typeface="맑은 고딕"/>
              </a:rPr>
              <a:t>(2) </a:t>
            </a:r>
            <a:r>
              <a:rPr sz="1300" b="0" dirty="0" err="1">
                <a:solidFill>
                  <a:srgbClr val="CBD5E1"/>
                </a:solidFill>
                <a:latin typeface="맑은 고딕"/>
                <a:ea typeface="맑은 고딕"/>
              </a:rPr>
              <a:t>예측</a:t>
            </a:r>
            <a:endParaRPr sz="1300" b="0" dirty="0">
              <a:solidFill>
                <a:srgbClr val="CBD5E1"/>
              </a:solidFill>
              <a:latin typeface="맑은 고딕"/>
              <a:ea typeface="맑은 고딕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82296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CBD5E1"/>
                </a:solidFill>
                <a:latin typeface="맑은 고딕"/>
                <a:ea typeface="맑은 고딕"/>
              </a:rPr>
              <a:t>빅데이터분</a:t>
            </a:r>
            <a:r>
              <a:rPr lang="ko-KR" altLang="en-US" sz="1000" b="0" i="0" dirty="0">
                <a:solidFill>
                  <a:srgbClr val="CBD5E1"/>
                </a:solidFill>
                <a:latin typeface="맑은 고딕"/>
                <a:ea typeface="맑은 고딕"/>
              </a:rPr>
              <a:t>석</a:t>
            </a:r>
            <a:r>
              <a:rPr sz="1000" b="0" i="0" dirty="0" err="1">
                <a:solidFill>
                  <a:srgbClr val="CBD5E1"/>
                </a:solidFill>
                <a:latin typeface="맑은 고딕"/>
                <a:ea typeface="맑은 고딕"/>
              </a:rPr>
              <a:t>프로그래밍</a:t>
            </a:r>
            <a:r>
              <a:rPr sz="1000" b="0" i="0" dirty="0">
                <a:solidFill>
                  <a:srgbClr val="CBD5E1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CBD5E1"/>
                </a:solidFill>
                <a:latin typeface="맑은 고딕"/>
                <a:ea typeface="맑은 고딕"/>
              </a:rPr>
              <a:t>기말과제</a:t>
            </a:r>
            <a:r>
              <a:rPr sz="1000" b="0" i="0" dirty="0">
                <a:solidFill>
                  <a:srgbClr val="CBD5E1"/>
                </a:solidFill>
                <a:latin typeface="맑은 고딕"/>
                <a:ea typeface="맑은 고딕"/>
              </a:rPr>
              <a:t>  |  20221652 </a:t>
            </a:r>
            <a:r>
              <a:rPr sz="1000" b="0" i="0" dirty="0" err="1">
                <a:solidFill>
                  <a:srgbClr val="CBD5E1"/>
                </a:solidFill>
                <a:latin typeface="맑은 고딕"/>
                <a:ea typeface="맑은 고딕"/>
              </a:rPr>
              <a:t>주은환</a:t>
            </a:r>
            <a:endParaRPr sz="1000" b="0" i="0" dirty="0">
              <a:solidFill>
                <a:srgbClr val="CBD5E1"/>
              </a:solidFill>
              <a:latin typeface="맑은 고딕"/>
              <a:ea typeface="맑은 고딕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548872" y="6446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BD5E1"/>
                </a:solidFill>
                <a:latin typeface="맑은 고딕"/>
                <a:ea typeface="맑은 고딕"/>
              </a:rPr>
              <a:t>4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6B7DA5BC-68F9-5F98-4F35-7ECA53A62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4792" y="1417320"/>
            <a:ext cx="7763853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381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맑은 고딕"/>
                <a:ea typeface="맑은 고딕"/>
              </a:rPr>
              <a:t>모델  ·  특성  ·  성능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3657600" cy="4937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33832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FACC15"/>
                </a:solidFill>
                <a:latin typeface="맑은 고딕"/>
                <a:ea typeface="맑은 고딕"/>
              </a:rPr>
              <a:t>핵심 피처  (18개)</a:t>
            </a:r>
          </a:p>
          <a:p>
            <a:pPr algn="l">
              <a:lnSpc>
                <a:spcPct val="135000"/>
              </a:lnSpc>
            </a:pPr>
            <a:endParaRPr sz="1300" b="1">
              <a:solidFill>
                <a:srgbClr val="FACC15"/>
              </a:solidFill>
              <a:latin typeface="맑은 고딕"/>
              <a:ea typeface="맑은 고딕"/>
            </a:endParaRP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38BFF8"/>
                </a:solidFill>
                <a:latin typeface="맑은 고딕"/>
                <a:ea typeface="맑은 고딕"/>
              </a:rPr>
              <a:t>시간 파생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CBD5E1"/>
                </a:solidFill>
                <a:latin typeface="맑은 고딕"/>
                <a:ea typeface="맑은 고딕"/>
              </a:rPr>
              <a:t>  월  /  시간  /  요일  /  피크타임_여부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38BFF8"/>
                </a:solidFill>
                <a:latin typeface="맑은 고딕"/>
                <a:ea typeface="맑은 고딕"/>
              </a:rPr>
              <a:t>물리 위험도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CBD5E1"/>
                </a:solidFill>
                <a:latin typeface="맑은 고딕"/>
                <a:ea typeface="맑은 고딕"/>
              </a:rPr>
              <a:t>  기상_위험가중치  /  도로_폐쇄_위험도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34D399"/>
                </a:solidFill>
                <a:latin typeface="맑은 고딕"/>
                <a:ea typeface="맑은 고딕"/>
              </a:rPr>
              <a:t>이력 위험도  (NEW)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CBD5E1"/>
                </a:solidFill>
                <a:latin typeface="맑은 고딕"/>
                <a:ea typeface="맑은 고딕"/>
              </a:rPr>
              <a:t>  이력_위험도 = 사고건수 0.6 + 지연시간 0.4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34D399"/>
                </a:solidFill>
                <a:latin typeface="맑은 고딕"/>
                <a:ea typeface="맑은 고딕"/>
              </a:rPr>
              <a:t>ASOS 수치 기상  (NEW)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CBD5E1"/>
                </a:solidFill>
                <a:latin typeface="맑은 고딕"/>
                <a:ea typeface="맑은 고딕"/>
              </a:rPr>
              <a:t>  강수량  /  적설량  /  시정  /  풍속  /  기온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38BFF8"/>
                </a:solidFill>
                <a:latin typeface="맑은 고딕"/>
                <a:ea typeface="맑은 고딕"/>
              </a:rPr>
              <a:t>이벤트 플래그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CBD5E1"/>
                </a:solidFill>
                <a:latin typeface="맑은 고딕"/>
                <a:ea typeface="맑은 고딕"/>
              </a:rPr>
              <a:t>  사고_여부  /  공사_여부  /  기상악화_여부</a:t>
            </a:r>
          </a:p>
        </p:txBody>
      </p:sp>
      <p:sp>
        <p:nvSpPr>
          <p:cNvPr id="7" name="Rectangle 6"/>
          <p:cNvSpPr/>
          <p:nvPr/>
        </p:nvSpPr>
        <p:spPr>
          <a:xfrm>
            <a:off x="4251960" y="1417320"/>
            <a:ext cx="3474720" cy="2194560"/>
          </a:xfrm>
          <a:prstGeom prst="rect">
            <a:avLst/>
          </a:prstGeom>
          <a:solidFill>
            <a:srgbClr val="1E293B"/>
          </a:solidFill>
          <a:ln w="1524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34840" y="155448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FACC15"/>
                </a:solidFill>
                <a:latin typeface="맑은 고딕"/>
                <a:ea typeface="맑은 고딕"/>
              </a:rPr>
              <a:t>Random Forest  선택 이유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CBD5E1"/>
                </a:solidFill>
                <a:latin typeface="맑은 고딕"/>
                <a:ea typeface="맑은 고딕"/>
              </a:rPr>
              <a:t>비선형 관계(기상+노선+시간) 파악 유리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CBD5E1"/>
                </a:solidFill>
                <a:latin typeface="맑은 고딕"/>
                <a:ea typeface="맑은 고딕"/>
              </a:rPr>
              <a:t>수치·범주 혼합 피처 전처리 불필요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CBD5E1"/>
                </a:solidFill>
                <a:latin typeface="맑은 고딕"/>
                <a:ea typeface="맑은 고딕"/>
              </a:rPr>
              <a:t>class_weight{고:3.0} 으로 FN 억제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CBD5E1"/>
                </a:solidFill>
                <a:latin typeface="맑은 고딕"/>
                <a:ea typeface="맑은 고딕"/>
              </a:rPr>
              <a:t>특성 중요도로 해석 용이</a:t>
            </a:r>
          </a:p>
        </p:txBody>
      </p:sp>
      <p:sp>
        <p:nvSpPr>
          <p:cNvPr id="9" name="Rectangle 8"/>
          <p:cNvSpPr/>
          <p:nvPr/>
        </p:nvSpPr>
        <p:spPr>
          <a:xfrm>
            <a:off x="7955279" y="1417320"/>
            <a:ext cx="3840480" cy="2194560"/>
          </a:xfrm>
          <a:prstGeom prst="rect">
            <a:avLst/>
          </a:prstGeom>
          <a:solidFill>
            <a:srgbClr val="1E293B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38160" y="1554480"/>
            <a:ext cx="3520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F87171"/>
                </a:solidFill>
                <a:latin typeface="맑은 고딕"/>
                <a:ea typeface="맑은 고딕"/>
              </a:rPr>
              <a:t>최우선 지표:  고위험 재현율(Recall)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CBD5E1"/>
                </a:solidFill>
                <a:latin typeface="맑은 고딕"/>
                <a:ea typeface="맑은 고딕"/>
              </a:rPr>
              <a:t>위험 누락(FN) &gt; 오경보(FP)  피해 크기</a:t>
            </a:r>
          </a:p>
          <a:p>
            <a:pPr algn="l">
              <a:lnSpc>
                <a:spcPct val="135000"/>
              </a:lnSpc>
            </a:pPr>
            <a:endParaRPr sz="1100" b="0">
              <a:solidFill>
                <a:srgbClr val="CBD5E1"/>
              </a:solidFill>
              <a:latin typeface="맑은 고딕"/>
              <a:ea typeface="맑은 고딕"/>
            </a:endParaRP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FACC15"/>
                </a:solidFill>
                <a:latin typeface="맑은 고딕"/>
                <a:ea typeface="맑은 고딕"/>
              </a:rPr>
              <a:t>→  Streamlit 앱에서 실제 수치 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47091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87171"/>
                </a:solidFill>
                <a:latin typeface="맑은 고딕"/>
                <a:ea typeface="맑은 고딕"/>
              </a:rPr>
              <a:t>[ 스크린샷 삽입 ]
특성 중요도
가로 막대 그래프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9" y="470916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87171"/>
                </a:solidFill>
                <a:latin typeface="맑은 고딕"/>
                <a:ea typeface="맑은 고딕"/>
              </a:rPr>
              <a:t>[ 스크린샷 삽입 ]
혼동 행렬
(히트맵)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82296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CBD5E1"/>
                </a:solidFill>
                <a:latin typeface="맑은 고딕"/>
                <a:ea typeface="맑은 고딕"/>
              </a:rPr>
              <a:t>빅데이터분</a:t>
            </a:r>
            <a:r>
              <a:rPr lang="ko-KR" altLang="en-US" sz="1000" b="0" i="0" dirty="0">
                <a:solidFill>
                  <a:srgbClr val="CBD5E1"/>
                </a:solidFill>
                <a:latin typeface="맑은 고딕"/>
                <a:ea typeface="맑은 고딕"/>
              </a:rPr>
              <a:t>석</a:t>
            </a:r>
            <a:r>
              <a:rPr sz="1000" b="0" i="0" dirty="0" err="1">
                <a:solidFill>
                  <a:srgbClr val="CBD5E1"/>
                </a:solidFill>
                <a:latin typeface="맑은 고딕"/>
                <a:ea typeface="맑은 고딕"/>
              </a:rPr>
              <a:t>프로그래밍</a:t>
            </a:r>
            <a:r>
              <a:rPr sz="1000" b="0" i="0" dirty="0">
                <a:solidFill>
                  <a:srgbClr val="CBD5E1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CBD5E1"/>
                </a:solidFill>
                <a:latin typeface="맑은 고딕"/>
                <a:ea typeface="맑은 고딕"/>
              </a:rPr>
              <a:t>기말과제</a:t>
            </a:r>
            <a:r>
              <a:rPr sz="1000" b="0" i="0" dirty="0">
                <a:solidFill>
                  <a:srgbClr val="CBD5E1"/>
                </a:solidFill>
                <a:latin typeface="맑은 고딕"/>
                <a:ea typeface="맑은 고딕"/>
              </a:rPr>
              <a:t>  |  20221652 </a:t>
            </a:r>
            <a:r>
              <a:rPr sz="1000" b="0" i="0" dirty="0" err="1">
                <a:solidFill>
                  <a:srgbClr val="CBD5E1"/>
                </a:solidFill>
                <a:latin typeface="맑은 고딕"/>
                <a:ea typeface="맑은 고딕"/>
              </a:rPr>
              <a:t>주은환</a:t>
            </a:r>
            <a:endParaRPr sz="1000" b="0" i="0" dirty="0">
              <a:solidFill>
                <a:srgbClr val="CBD5E1"/>
              </a:solidFill>
              <a:latin typeface="맑은 고딕"/>
              <a:ea typeface="맑은 고딕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548872" y="6446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BD5E1"/>
                </a:solidFill>
                <a:latin typeface="맑은 고딕"/>
                <a:ea typeface="맑은 고딕"/>
              </a:rPr>
              <a:t>5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E3D55467-5413-2EFC-1120-03FF9DFD81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3794760"/>
            <a:ext cx="3561128" cy="2660742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DC69FB3D-F624-D1DC-6F3E-C260E7E9F3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3794760"/>
            <a:ext cx="3819550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맑은 고딕"/>
                <a:ea typeface="맑은 고딕"/>
              </a:rPr>
              <a:t>결론  ·  한계  ·  향후 과제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11430000" cy="1188720"/>
          </a:xfrm>
          <a:prstGeom prst="rect">
            <a:avLst/>
          </a:prstGeom>
          <a:solidFill>
            <a:srgbClr val="1E293B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57276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34D399"/>
                </a:solidFill>
                <a:latin typeface="맑은 고딕"/>
                <a:ea typeface="맑은 고딕"/>
              </a:rPr>
              <a:t>결론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FFFFFF"/>
                </a:solidFill>
                <a:latin typeface="맑은 고딕"/>
                <a:ea typeface="맑은 고딕"/>
              </a:rPr>
              <a:t>기상·통제차로수·피크타임이 고위험 예측의 핵심. ASOS 수치 피처 추가로 재현율 향상 확인.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880360"/>
            <a:ext cx="5486400" cy="3383280"/>
          </a:xfrm>
          <a:prstGeom prst="rect">
            <a:avLst/>
          </a:prstGeom>
          <a:solidFill>
            <a:srgbClr val="1E293B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3017520"/>
            <a:ext cx="5166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1">
                <a:solidFill>
                  <a:srgbClr val="F87171"/>
                </a:solidFill>
                <a:latin typeface="맑은 고딕"/>
                <a:ea typeface="맑은 고딕"/>
              </a:rPr>
              <a:t>한계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시뮬레이션 데이터 의존</a:t>
            </a:r>
          </a:p>
          <a:p>
            <a:pPr algn="l">
              <a:lnSpc>
                <a:spcPct val="145000"/>
              </a:lnSpc>
            </a:pPr>
            <a:r>
              <a:rPr sz="1300" b="0">
                <a:solidFill>
                  <a:srgbClr val="CBD5E1"/>
                </a:solidFill>
                <a:latin typeface="맑은 고딕"/>
                <a:ea typeface="맑은 고딕"/>
              </a:rPr>
              <a:t>  → ITS Korea API 정식 인증 후 실 데이터 재학습 필요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정적 기상가중치</a:t>
            </a:r>
          </a:p>
          <a:p>
            <a:pPr algn="l">
              <a:lnSpc>
                <a:spcPct val="145000"/>
              </a:lnSpc>
            </a:pPr>
            <a:r>
              <a:rPr sz="1300" b="0">
                <a:solidFill>
                  <a:srgbClr val="CBD5E1"/>
                </a:solidFill>
                <a:latin typeface="맑은 고딕"/>
                <a:ea typeface="맑은 고딕"/>
              </a:rPr>
              <a:t>  → 모델이 직접 학습하는 방식으로 개선 가능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2880360"/>
            <a:ext cx="5486400" cy="3383280"/>
          </a:xfrm>
          <a:prstGeom prst="rect">
            <a:avLst/>
          </a:prstGeom>
          <a:solidFill>
            <a:srgbClr val="1E293B"/>
          </a:solidFill>
          <a:ln w="15240">
            <a:solidFill>
              <a:srgbClr val="38B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3017520"/>
            <a:ext cx="5166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1">
                <a:solidFill>
                  <a:srgbClr val="38BFF8"/>
                </a:solidFill>
                <a:latin typeface="맑은 고딕"/>
                <a:ea typeface="맑은 고딕"/>
              </a:rPr>
              <a:t>향후 과제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Folium 위험도 지도 시각화</a:t>
            </a:r>
          </a:p>
          <a:p>
            <a:pPr algn="l">
              <a:lnSpc>
                <a:spcPct val="145000"/>
              </a:lnSpc>
            </a:pPr>
            <a:r>
              <a:rPr sz="1300" b="0">
                <a:solidFill>
                  <a:srgbClr val="CBD5E1"/>
                </a:solidFill>
                <a:latin typeface="맑은 고딕"/>
                <a:ea typeface="맑은 고딕"/>
              </a:rPr>
              <a:t>  → 노선별 구간 색상 지도로 직관적 표시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SHAP 설명 가능성 추가</a:t>
            </a:r>
          </a:p>
          <a:p>
            <a:pPr algn="l">
              <a:lnSpc>
                <a:spcPct val="145000"/>
              </a:lnSpc>
            </a:pPr>
            <a:r>
              <a:rPr sz="1300" b="0">
                <a:solidFill>
                  <a:srgbClr val="CBD5E1"/>
                </a:solidFill>
                <a:latin typeface="맑은 고딕"/>
                <a:ea typeface="맑은 고딕"/>
              </a:rPr>
              <a:t>  → 개별 예측 이유 제공으로 사용자 신뢰도 향상</a:t>
            </a:r>
          </a:p>
          <a:p>
            <a:pPr algn="l">
              <a:lnSpc>
                <a:spcPct val="145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LSTM 시계열 모델 도입</a:t>
            </a:r>
          </a:p>
          <a:p>
            <a:pPr algn="l">
              <a:lnSpc>
                <a:spcPct val="145000"/>
              </a:lnSpc>
            </a:pPr>
            <a:r>
              <a:rPr sz="1300" b="0">
                <a:solidFill>
                  <a:srgbClr val="CBD5E1"/>
                </a:solidFill>
                <a:latin typeface="맑은 고딕"/>
                <a:ea typeface="맑은 고딕"/>
              </a:rPr>
              <a:t>  → 연속 시간 흐름 반영으로 정확도 개선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82296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CBD5E1"/>
                </a:solidFill>
                <a:latin typeface="맑은 고딕"/>
                <a:ea typeface="맑은 고딕"/>
              </a:rPr>
              <a:t>빅데이터분</a:t>
            </a:r>
            <a:r>
              <a:rPr lang="ko-KR" altLang="en-US" sz="1000" b="0" i="0" dirty="0">
                <a:solidFill>
                  <a:srgbClr val="CBD5E1"/>
                </a:solidFill>
                <a:latin typeface="맑은 고딕"/>
                <a:ea typeface="맑은 고딕"/>
              </a:rPr>
              <a:t>석</a:t>
            </a:r>
            <a:r>
              <a:rPr sz="1000" b="0" i="0" dirty="0" err="1">
                <a:solidFill>
                  <a:srgbClr val="CBD5E1"/>
                </a:solidFill>
                <a:latin typeface="맑은 고딕"/>
                <a:ea typeface="맑은 고딕"/>
              </a:rPr>
              <a:t>프로그래밍</a:t>
            </a:r>
            <a:r>
              <a:rPr sz="1000" b="0" i="0" dirty="0">
                <a:solidFill>
                  <a:srgbClr val="CBD5E1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CBD5E1"/>
                </a:solidFill>
                <a:latin typeface="맑은 고딕"/>
                <a:ea typeface="맑은 고딕"/>
              </a:rPr>
              <a:t>기말과제</a:t>
            </a:r>
            <a:r>
              <a:rPr sz="1000" b="0" i="0" dirty="0">
                <a:solidFill>
                  <a:srgbClr val="CBD5E1"/>
                </a:solidFill>
                <a:latin typeface="맑은 고딕"/>
                <a:ea typeface="맑은 고딕"/>
              </a:rPr>
              <a:t>  |  20221652 </a:t>
            </a:r>
            <a:r>
              <a:rPr sz="1000" b="0" i="0" dirty="0" err="1">
                <a:solidFill>
                  <a:srgbClr val="CBD5E1"/>
                </a:solidFill>
                <a:latin typeface="맑은 고딕"/>
                <a:ea typeface="맑은 고딕"/>
              </a:rPr>
              <a:t>주은환</a:t>
            </a:r>
            <a:endParaRPr sz="1000" b="0" i="0" dirty="0">
              <a:solidFill>
                <a:srgbClr val="CBD5E1"/>
              </a:solidFill>
              <a:latin typeface="맑은 고딕"/>
              <a:ea typeface="맑은 고딕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548872" y="6446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BD5E1"/>
                </a:solidFill>
                <a:latin typeface="맑은 고딕"/>
                <a:ea typeface="맑은 고딕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594</Words>
  <Application>Microsoft Office PowerPoint</Application>
  <PresentationFormat>사용자 지정</PresentationFormat>
  <Paragraphs>94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6-112</dc:creator>
  <cp:keywords/>
  <dc:description>generated using python-pptx</dc:description>
  <cp:lastModifiedBy>102</cp:lastModifiedBy>
  <cp:revision>4</cp:revision>
  <dcterms:created xsi:type="dcterms:W3CDTF">2013-01-27T09:14:16Z</dcterms:created>
  <dcterms:modified xsi:type="dcterms:W3CDTF">2026-06-12T06:59:42Z</dcterms:modified>
  <cp:category/>
</cp:coreProperties>
</file>